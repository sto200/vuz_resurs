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Heebo" pitchFamily="2" charset="-79"/>
      <p:regular r:id="rId13"/>
      <p:bold r:id="rId14"/>
    </p:embeddedFont>
    <p:embeddedFont>
      <p:font typeface="Varela Round" panose="00000500000000000000" pitchFamily="2" charset="-79"/>
      <p:regular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94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Ф О" userId="fd3b720f91c94b1b" providerId="LiveId" clId="{B70E0C6B-123D-4107-B01F-10F43307220F}"/>
    <pc:docChg chg="addSld">
      <pc:chgData name="Ф О" userId="fd3b720f91c94b1b" providerId="LiveId" clId="{B70E0C6B-123D-4107-B01F-10F43307220F}" dt="2026-01-13T06:26:46.574" v="0" actId="680"/>
      <pc:docMkLst>
        <pc:docMk/>
      </pc:docMkLst>
      <pc:sldChg chg="new">
        <pc:chgData name="Ф О" userId="fd3b720f91c94b1b" providerId="LiveId" clId="{B70E0C6B-123D-4107-B01F-10F43307220F}" dt="2026-01-13T06:26:46.574" v="0" actId="680"/>
        <pc:sldMkLst>
          <pc:docMk/>
          <pc:sldMk cId="1627657173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9912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53839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53839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53839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53839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53839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53839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53839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53839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53839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to200.github.io/vuz_resurs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227" y="2333506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ВУЗресурс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5227" y="3598783"/>
            <a:ext cx="128998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Создание навигационного микросайта образовательных ресурсов Москвы для школьников, ориентированных на поступление в ВУЗы в сфере экономики и бизнеса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5227" y="4789932"/>
            <a:ext cx="12899827" cy="38457"/>
          </a:xfrm>
          <a:prstGeom prst="rect">
            <a:avLst/>
          </a:prstGeom>
          <a:solidFill>
            <a:srgbClr val="E5E4E2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5227" y="5105995"/>
            <a:ext cx="128998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Огульник </a:t>
            </a:r>
            <a:r>
              <a:rPr lang="en-US" sz="1900" b="1" dirty="0" err="1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Стефан</a:t>
            </a:r>
            <a:r>
              <a:rPr lang="en-US" sz="1900" b="1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1900" b="1" dirty="0" err="1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Филиппович</a:t>
            </a:r>
            <a:br>
              <a:rPr lang="ru-RU" sz="1900" b="1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</a:br>
            <a:r>
              <a:rPr lang="en-US" sz="1900" dirty="0" err="1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Сальгина</a:t>
            </a:r>
            <a:r>
              <a:rPr lang="en-US" sz="19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Екатерина Сергеевна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227" y="1585674"/>
            <a:ext cx="105943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Проблема, которую решает проект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5227" y="2850952"/>
            <a:ext cx="4135398" cy="3792855"/>
          </a:xfrm>
          <a:prstGeom prst="roundRect">
            <a:avLst>
              <a:gd name="adj" fmla="val 976"/>
            </a:avLst>
          </a:prstGeom>
          <a:solidFill>
            <a:srgbClr val="545758"/>
          </a:solidFill>
          <a:ln/>
        </p:spPr>
      </p:sp>
      <p:sp>
        <p:nvSpPr>
          <p:cNvPr id="4" name="Text 2"/>
          <p:cNvSpPr/>
          <p:nvPr/>
        </p:nvSpPr>
        <p:spPr>
          <a:xfrm>
            <a:off x="1112044" y="3097768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Что хочется сделать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2044" y="3631644"/>
            <a:ext cx="3641765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Хочется сделать, чтобы в один клик было понятно какие ресурсы помогут им поступить в конкретный ВУЗ по специальности экономика-бизнес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47442" y="2850952"/>
            <a:ext cx="4135398" cy="3792855"/>
          </a:xfrm>
          <a:prstGeom prst="roundRect">
            <a:avLst>
              <a:gd name="adj" fmla="val 976"/>
            </a:avLst>
          </a:prstGeom>
          <a:solidFill>
            <a:srgbClr val="545758"/>
          </a:solidFill>
          <a:ln/>
        </p:spPr>
      </p:sp>
      <p:sp>
        <p:nvSpPr>
          <p:cNvPr id="7" name="Text 5"/>
          <p:cNvSpPr/>
          <p:nvPr/>
        </p:nvSpPr>
        <p:spPr>
          <a:xfrm>
            <a:off x="5494258" y="3097768"/>
            <a:ext cx="356997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Кому это будет полезно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94258" y="3631644"/>
            <a:ext cx="3641765" cy="276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Всем ученикам 8–11 классов, которые планируют поступать в вузы на экономику/финансы или бизнес/менеджмент, или еще не определились с направлением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29656" y="2850952"/>
            <a:ext cx="4135398" cy="3792855"/>
          </a:xfrm>
          <a:prstGeom prst="roundRect">
            <a:avLst>
              <a:gd name="adj" fmla="val 976"/>
            </a:avLst>
          </a:prstGeom>
          <a:solidFill>
            <a:srgbClr val="545758"/>
          </a:solidFill>
          <a:ln/>
        </p:spPr>
      </p:sp>
      <p:sp>
        <p:nvSpPr>
          <p:cNvPr id="10" name="Text 8"/>
          <p:cNvSpPr/>
          <p:nvPr/>
        </p:nvSpPr>
        <p:spPr>
          <a:xfrm>
            <a:off x="9876473" y="3097768"/>
            <a:ext cx="333756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Почему это актуально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876473" y="3631644"/>
            <a:ext cx="3641765" cy="276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100%</a:t>
            </a:r>
            <a:r>
              <a:rPr lang="en-US" sz="19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опрошенных учеников (20 респондентов) планируют поступать в вузы; большинство хотят улучшить свою ориентацию в ресурсах и получить информацию о льготах для абитуриентов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6151" y="405170"/>
            <a:ext cx="5030153" cy="456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Проведенное исследование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3496151" y="1154192"/>
            <a:ext cx="3745944" cy="2662595"/>
          </a:xfrm>
          <a:prstGeom prst="roundRect">
            <a:avLst>
              <a:gd name="adj" fmla="val 2747"/>
            </a:avLst>
          </a:prstGeom>
          <a:solidFill>
            <a:srgbClr val="353839"/>
          </a:solidFill>
          <a:ln w="15240">
            <a:solidFill>
              <a:srgbClr val="6D707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0911" y="1154192"/>
            <a:ext cx="60960" cy="2662595"/>
          </a:xfrm>
          <a:prstGeom prst="roundRect">
            <a:avLst>
              <a:gd name="adj" fmla="val 35970"/>
            </a:avLst>
          </a:prstGeom>
          <a:solidFill>
            <a:srgbClr val="F4DDB8"/>
          </a:solidFill>
          <a:ln/>
        </p:spPr>
      </p:sp>
      <p:sp>
        <p:nvSpPr>
          <p:cNvPr id="5" name="Text 3"/>
          <p:cNvSpPr/>
          <p:nvPr/>
        </p:nvSpPr>
        <p:spPr>
          <a:xfrm>
            <a:off x="3703201" y="1315522"/>
            <a:ext cx="2365653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Первоначальная гипотеза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03201" y="1631513"/>
            <a:ext cx="3377565" cy="1169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Создание единого справочника-навигатора поможет школьникам лучше ориентироваться в ресурсах по экономике/бизнесу и понять, как эти ресурсы помогают при поступлении в вузы.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88185" y="1154192"/>
            <a:ext cx="3745944" cy="2662595"/>
          </a:xfrm>
          <a:prstGeom prst="roundRect">
            <a:avLst>
              <a:gd name="adj" fmla="val 2747"/>
            </a:avLst>
          </a:prstGeom>
          <a:solidFill>
            <a:srgbClr val="353839"/>
          </a:solidFill>
          <a:ln w="15240">
            <a:solidFill>
              <a:srgbClr val="6D70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72945" y="1154192"/>
            <a:ext cx="60960" cy="2662595"/>
          </a:xfrm>
          <a:prstGeom prst="roundRect">
            <a:avLst>
              <a:gd name="adj" fmla="val 35970"/>
            </a:avLst>
          </a:prstGeom>
          <a:solidFill>
            <a:srgbClr val="F4DDB8"/>
          </a:solidFill>
          <a:ln/>
        </p:spPr>
      </p:sp>
      <p:sp>
        <p:nvSpPr>
          <p:cNvPr id="9" name="Text 7"/>
          <p:cNvSpPr/>
          <p:nvPr/>
        </p:nvSpPr>
        <p:spPr>
          <a:xfrm>
            <a:off x="7595235" y="1315522"/>
            <a:ext cx="1827252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 err="1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Что</a:t>
            </a:r>
            <a:r>
              <a:rPr lang="en-US" sz="14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</a:t>
            </a:r>
            <a:r>
              <a:rPr lang="en-US" sz="1400" dirty="0" err="1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делал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95235" y="1631513"/>
            <a:ext cx="3377565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 err="1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Провел</a:t>
            </a:r>
            <a:r>
              <a:rPr lang="en-US" sz="115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опрос среди школьников через Google Forms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595235" y="2150269"/>
            <a:ext cx="3377565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 err="1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Изучил</a:t>
            </a:r>
            <a:r>
              <a:rPr lang="en-US" sz="115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опыт участия в олимпиадах, курсах и профильных классах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595235" y="2669024"/>
            <a:ext cx="3377565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 err="1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Проверил</a:t>
            </a:r>
            <a:r>
              <a:rPr lang="en-US" sz="115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полезность ресурсов и интерес к участию в будущем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595235" y="3187779"/>
            <a:ext cx="3377565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 err="1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Выявил</a:t>
            </a:r>
            <a:r>
              <a:rPr lang="en-US" sz="115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приоритетные направления и удобные форматы справочника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96151" y="4035981"/>
            <a:ext cx="3009543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 err="1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Какие</a:t>
            </a:r>
            <a:r>
              <a:rPr lang="en-US" sz="170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</a:t>
            </a:r>
            <a:r>
              <a:rPr lang="en-US" sz="1700" dirty="0" err="1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результаты</a:t>
            </a:r>
            <a:r>
              <a:rPr lang="ru-RU" sz="170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получены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96151" y="4602242"/>
            <a:ext cx="2424232" cy="48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96%</a:t>
            </a:r>
            <a:endParaRPr lang="en-US" sz="3750" dirty="0"/>
          </a:p>
        </p:txBody>
      </p:sp>
      <p:sp>
        <p:nvSpPr>
          <p:cNvPr id="16" name="Text 14"/>
          <p:cNvSpPr/>
          <p:nvPr/>
        </p:nvSpPr>
        <p:spPr>
          <a:xfrm>
            <a:off x="3755469" y="5267087"/>
            <a:ext cx="1905476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Опыт использования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96151" y="5583079"/>
            <a:ext cx="2424232" cy="70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уже сталкивались с дополнительными образовательными ресурсами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03025" y="4602242"/>
            <a:ext cx="2424232" cy="48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4.5</a:t>
            </a:r>
            <a:endParaRPr lang="en-US" sz="3750" dirty="0"/>
          </a:p>
        </p:txBody>
      </p:sp>
      <p:sp>
        <p:nvSpPr>
          <p:cNvPr id="19" name="Text 17"/>
          <p:cNvSpPr/>
          <p:nvPr/>
        </p:nvSpPr>
        <p:spPr>
          <a:xfrm>
            <a:off x="6401514" y="5267087"/>
            <a:ext cx="1827252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Средняя полезность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03025" y="5583079"/>
            <a:ext cx="2424232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из 5 — ресурсы реально помогают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09898" y="4602242"/>
            <a:ext cx="2424232" cy="48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70%</a:t>
            </a:r>
            <a:endParaRPr lang="en-US" sz="3750" dirty="0"/>
          </a:p>
        </p:txBody>
      </p:sp>
      <p:sp>
        <p:nvSpPr>
          <p:cNvPr id="22" name="Text 20"/>
          <p:cNvSpPr/>
          <p:nvPr/>
        </p:nvSpPr>
        <p:spPr>
          <a:xfrm>
            <a:off x="9008388" y="5267087"/>
            <a:ext cx="1827252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Планы на будущее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09898" y="5583079"/>
            <a:ext cx="2424232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планируют использовать такие ресурсы в будущем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96151" y="6595110"/>
            <a:ext cx="1827252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Топ-направления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96151" y="6969562"/>
            <a:ext cx="3640693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Экономика / финансы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96151" y="7254478"/>
            <a:ext cx="3640693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Бизнес / менеджмент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00938" y="6595110"/>
            <a:ext cx="2426851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Топ-форматы справочника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00938" y="6969562"/>
            <a:ext cx="3640693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Сайт / интерактивная карта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500938" y="7254478"/>
            <a:ext cx="3640693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Презентация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500938" y="7539395"/>
            <a:ext cx="3640693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PDF-брошюра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227" y="1831181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Образ продукта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5227" y="3096458"/>
            <a:ext cx="555427" cy="555427"/>
          </a:xfrm>
          <a:prstGeom prst="roundRect">
            <a:avLst>
              <a:gd name="adj" fmla="val 6668"/>
            </a:avLst>
          </a:prstGeom>
          <a:solidFill>
            <a:srgbClr val="545758"/>
          </a:solidFill>
          <a:ln/>
        </p:spPr>
      </p:sp>
      <p:sp>
        <p:nvSpPr>
          <p:cNvPr id="4" name="Text 2"/>
          <p:cNvSpPr/>
          <p:nvPr/>
        </p:nvSpPr>
        <p:spPr>
          <a:xfrm>
            <a:off x="1667470" y="3181231"/>
            <a:ext cx="5493306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Микросайт для подбора олимпиад и других инструментов поступления под конкретный ВУЗ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69386" y="3096458"/>
            <a:ext cx="555427" cy="555427"/>
          </a:xfrm>
          <a:prstGeom prst="roundRect">
            <a:avLst>
              <a:gd name="adj" fmla="val 6668"/>
            </a:avLst>
          </a:prstGeom>
          <a:solidFill>
            <a:srgbClr val="545758"/>
          </a:solidFill>
          <a:ln/>
        </p:spPr>
      </p:sp>
      <p:sp>
        <p:nvSpPr>
          <p:cNvPr id="6" name="Text 4"/>
          <p:cNvSpPr/>
          <p:nvPr/>
        </p:nvSpPr>
        <p:spPr>
          <a:xfrm>
            <a:off x="8271629" y="3181231"/>
            <a:ext cx="549342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Способы усилить шансы на поступление — в одном месте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71629" y="4100870"/>
            <a:ext cx="549342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олимпиады, курсы, профильные классы и фестивали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5227" y="5384721"/>
            <a:ext cx="555427" cy="555427"/>
          </a:xfrm>
          <a:prstGeom prst="roundRect">
            <a:avLst>
              <a:gd name="adj" fmla="val 6668"/>
            </a:avLst>
          </a:prstGeom>
          <a:solidFill>
            <a:srgbClr val="545758"/>
          </a:solidFill>
          <a:ln/>
        </p:spPr>
      </p:sp>
      <p:sp>
        <p:nvSpPr>
          <p:cNvPr id="9" name="Text 7"/>
          <p:cNvSpPr/>
          <p:nvPr/>
        </p:nvSpPr>
        <p:spPr>
          <a:xfrm>
            <a:off x="1667470" y="5469493"/>
            <a:ext cx="54933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Видно, какие льготы даёт каждый вариант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469386" y="5384721"/>
            <a:ext cx="555427" cy="555427"/>
          </a:xfrm>
          <a:prstGeom prst="roundRect">
            <a:avLst>
              <a:gd name="adj" fmla="val 6668"/>
            </a:avLst>
          </a:prstGeom>
          <a:solidFill>
            <a:srgbClr val="545758"/>
          </a:solidFill>
          <a:ln/>
        </p:spPr>
      </p:sp>
      <p:sp>
        <p:nvSpPr>
          <p:cNvPr id="11" name="Text 9"/>
          <p:cNvSpPr/>
          <p:nvPr/>
        </p:nvSpPr>
        <p:spPr>
          <a:xfrm>
            <a:off x="8271629" y="5469493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Понятный маршрут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71629" y="6003369"/>
            <a:ext cx="549342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что делать, куда идти и зачем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0762" y="634484"/>
            <a:ext cx="10842427" cy="715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50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Критерии оценки успешности проекта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330762" y="1808321"/>
            <a:ext cx="11968877" cy="5786676"/>
          </a:xfrm>
          <a:prstGeom prst="roundRect">
            <a:avLst>
              <a:gd name="adj" fmla="val 59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8382" y="1815941"/>
            <a:ext cx="11953637" cy="6565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567339" y="1960959"/>
            <a:ext cx="5515094" cy="366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Критерии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47967" y="1960959"/>
            <a:ext cx="5515094" cy="366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Идеальный результат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38382" y="2472452"/>
            <a:ext cx="11953637" cy="10229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67339" y="2617470"/>
            <a:ext cx="5515094" cy="366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Подтверждённая польза для школьников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47967" y="2617470"/>
            <a:ext cx="5515094" cy="732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80%+ школьников</a:t>
            </a:r>
            <a:r>
              <a:rPr lang="en-US" sz="18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подтверждают, что продукт помог выбрать траекторию поступления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38382" y="3495437"/>
            <a:ext cx="11953637" cy="10229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567339" y="3640455"/>
            <a:ext cx="5515094" cy="732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Полнота и структурированность базы ВУЗов и ресурсов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47967" y="3640455"/>
            <a:ext cx="5515094" cy="732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13+ ВУЗов</a:t>
            </a:r>
            <a:r>
              <a:rPr lang="en-US" sz="18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с полной структурой ресурсов, льгот и сроков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38382" y="4518422"/>
            <a:ext cx="11953637" cy="10229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567339" y="4663440"/>
            <a:ext cx="5515094" cy="732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Экспертное подтверждение качества и валидности продукта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47967" y="4663440"/>
            <a:ext cx="5515094" cy="732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3+ эксперта</a:t>
            </a:r>
            <a:r>
              <a:rPr lang="en-US" sz="18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подтверждают валидность и практическую ценность продукта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38382" y="5541407"/>
            <a:ext cx="11953637" cy="10229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567339" y="5686425"/>
            <a:ext cx="5515094" cy="732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Достаточность исследования целевой аудитории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47967" y="5686425"/>
            <a:ext cx="5515094" cy="732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20+ представителей ЦА</a:t>
            </a:r>
            <a:r>
              <a:rPr lang="en-US" sz="18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приняли участие в исследовании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38382" y="6564392"/>
            <a:ext cx="11953637" cy="10229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567339" y="6709410"/>
            <a:ext cx="5515094" cy="732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Функциональность и удобство итогового продукта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47967" y="6709410"/>
            <a:ext cx="5515094" cy="732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Полнофункциональный сервис с удобной навигацией и фильтрами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227" y="769977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Что уже сделано?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5227" y="2405539"/>
            <a:ext cx="6326505" cy="2218492"/>
          </a:xfrm>
          <a:prstGeom prst="roundRect">
            <a:avLst>
              <a:gd name="adj" fmla="val 6595"/>
            </a:avLst>
          </a:prstGeom>
          <a:solidFill>
            <a:srgbClr val="353839"/>
          </a:solidFill>
          <a:ln/>
        </p:spPr>
      </p:sp>
      <p:sp>
        <p:nvSpPr>
          <p:cNvPr id="4" name="Shape 2"/>
          <p:cNvSpPr/>
          <p:nvPr/>
        </p:nvSpPr>
        <p:spPr>
          <a:xfrm>
            <a:off x="865227" y="2375059"/>
            <a:ext cx="6326505" cy="121920"/>
          </a:xfrm>
          <a:prstGeom prst="roundRect">
            <a:avLst>
              <a:gd name="adj" fmla="val 30375"/>
            </a:avLst>
          </a:prstGeom>
          <a:solidFill>
            <a:srgbClr val="F4DDB8"/>
          </a:solidFill>
          <a:ln/>
        </p:spPr>
      </p:sp>
      <p:sp>
        <p:nvSpPr>
          <p:cNvPr id="5" name="Shape 3"/>
          <p:cNvSpPr/>
          <p:nvPr/>
        </p:nvSpPr>
        <p:spPr>
          <a:xfrm>
            <a:off x="3658195" y="203525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F4DDB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0366" y="2257425"/>
            <a:ext cx="296228" cy="2962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2524" y="3022759"/>
            <a:ext cx="387977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Проведено исследование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42524" y="3556635"/>
            <a:ext cx="577191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Опрос 20 учеников 8–10 классов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438549" y="2405539"/>
            <a:ext cx="6326505" cy="2218492"/>
          </a:xfrm>
          <a:prstGeom prst="roundRect">
            <a:avLst>
              <a:gd name="adj" fmla="val 6595"/>
            </a:avLst>
          </a:prstGeom>
          <a:solidFill>
            <a:srgbClr val="353839"/>
          </a:solidFill>
          <a:ln/>
        </p:spPr>
      </p:sp>
      <p:sp>
        <p:nvSpPr>
          <p:cNvPr id="10" name="Shape 7"/>
          <p:cNvSpPr/>
          <p:nvPr/>
        </p:nvSpPr>
        <p:spPr>
          <a:xfrm>
            <a:off x="7438549" y="2375059"/>
            <a:ext cx="6326505" cy="121920"/>
          </a:xfrm>
          <a:prstGeom prst="roundRect">
            <a:avLst>
              <a:gd name="adj" fmla="val 30375"/>
            </a:avLst>
          </a:prstGeom>
          <a:solidFill>
            <a:srgbClr val="F4DDB8"/>
          </a:solidFill>
          <a:ln/>
        </p:spPr>
      </p:sp>
      <p:sp>
        <p:nvSpPr>
          <p:cNvPr id="11" name="Shape 8"/>
          <p:cNvSpPr/>
          <p:nvPr/>
        </p:nvSpPr>
        <p:spPr>
          <a:xfrm>
            <a:off x="10231517" y="203525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F4DDB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53688" y="2257425"/>
            <a:ext cx="296228" cy="2962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15845" y="3022759"/>
            <a:ext cx="358521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Выявлены потребности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715845" y="3556635"/>
            <a:ext cx="577191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Определены предпочтения целевой аудитории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865227" y="5241131"/>
            <a:ext cx="6326505" cy="2218492"/>
          </a:xfrm>
          <a:prstGeom prst="roundRect">
            <a:avLst>
              <a:gd name="adj" fmla="val 6595"/>
            </a:avLst>
          </a:prstGeom>
          <a:solidFill>
            <a:srgbClr val="353839"/>
          </a:solidFill>
          <a:ln/>
        </p:spPr>
      </p:sp>
      <p:sp>
        <p:nvSpPr>
          <p:cNvPr id="16" name="Shape 12"/>
          <p:cNvSpPr/>
          <p:nvPr/>
        </p:nvSpPr>
        <p:spPr>
          <a:xfrm>
            <a:off x="865227" y="5210651"/>
            <a:ext cx="6326505" cy="121920"/>
          </a:xfrm>
          <a:prstGeom prst="roundRect">
            <a:avLst>
              <a:gd name="adj" fmla="val 30375"/>
            </a:avLst>
          </a:prstGeom>
          <a:solidFill>
            <a:srgbClr val="F4DDB8"/>
          </a:solidFill>
          <a:ln/>
        </p:spPr>
      </p:sp>
      <p:sp>
        <p:nvSpPr>
          <p:cNvPr id="17" name="Shape 13"/>
          <p:cNvSpPr/>
          <p:nvPr/>
        </p:nvSpPr>
        <p:spPr>
          <a:xfrm>
            <a:off x="3658195" y="4870847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F4DDB8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80366" y="5093018"/>
            <a:ext cx="296228" cy="2962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2524" y="5858351"/>
            <a:ext cx="401466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Определены направления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1142524" y="6392228"/>
            <a:ext cx="577191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Основные направления и форматы продукта</a:t>
            </a:r>
            <a:endParaRPr lang="en-US" sz="1900" dirty="0"/>
          </a:p>
        </p:txBody>
      </p:sp>
      <p:sp>
        <p:nvSpPr>
          <p:cNvPr id="21" name="Shape 16"/>
          <p:cNvSpPr/>
          <p:nvPr/>
        </p:nvSpPr>
        <p:spPr>
          <a:xfrm>
            <a:off x="7438549" y="5241131"/>
            <a:ext cx="6326505" cy="2218492"/>
          </a:xfrm>
          <a:prstGeom prst="roundRect">
            <a:avLst>
              <a:gd name="adj" fmla="val 6595"/>
            </a:avLst>
          </a:prstGeom>
          <a:solidFill>
            <a:srgbClr val="353839"/>
          </a:solidFill>
          <a:ln/>
        </p:spPr>
      </p:sp>
      <p:sp>
        <p:nvSpPr>
          <p:cNvPr id="22" name="Shape 17"/>
          <p:cNvSpPr/>
          <p:nvPr/>
        </p:nvSpPr>
        <p:spPr>
          <a:xfrm>
            <a:off x="7438549" y="5210651"/>
            <a:ext cx="6326505" cy="121920"/>
          </a:xfrm>
          <a:prstGeom prst="roundRect">
            <a:avLst>
              <a:gd name="adj" fmla="val 30375"/>
            </a:avLst>
          </a:prstGeom>
          <a:solidFill>
            <a:srgbClr val="F4DDB8"/>
          </a:solidFill>
          <a:ln/>
        </p:spPr>
      </p:sp>
      <p:sp>
        <p:nvSpPr>
          <p:cNvPr id="23" name="Shape 18"/>
          <p:cNvSpPr/>
          <p:nvPr/>
        </p:nvSpPr>
        <p:spPr>
          <a:xfrm>
            <a:off x="10231517" y="4870847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F4DDB8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53688" y="5093018"/>
            <a:ext cx="296228" cy="2962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15845" y="5858351"/>
            <a:ext cx="331577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Собрана информация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7715845" y="6392228"/>
            <a:ext cx="577191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Начальная информация о ресурсах (олимпиады, курсы, </a:t>
            </a:r>
            <a:r>
              <a:rPr lang="ru-RU" sz="19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класс</a:t>
            </a:r>
            <a:r>
              <a:rPr lang="en-US" sz="19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ы)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6106" y="640913"/>
            <a:ext cx="9397484" cy="728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Таймлайн дальнейших действий</a:t>
            </a:r>
            <a:endParaRPr lang="en-US" sz="4550" dirty="0"/>
          </a:p>
        </p:txBody>
      </p:sp>
      <p:sp>
        <p:nvSpPr>
          <p:cNvPr id="3" name="Shape 1"/>
          <p:cNvSpPr/>
          <p:nvPr/>
        </p:nvSpPr>
        <p:spPr>
          <a:xfrm>
            <a:off x="7299960" y="1835348"/>
            <a:ext cx="30480" cy="5753695"/>
          </a:xfrm>
          <a:prstGeom prst="roundRect">
            <a:avLst>
              <a:gd name="adj" fmla="val 114703"/>
            </a:avLst>
          </a:prstGeom>
          <a:solidFill>
            <a:srgbClr val="6D7071"/>
          </a:solidFill>
          <a:ln/>
        </p:spPr>
      </p:sp>
      <p:sp>
        <p:nvSpPr>
          <p:cNvPr id="4" name="Shape 2"/>
          <p:cNvSpPr/>
          <p:nvPr/>
        </p:nvSpPr>
        <p:spPr>
          <a:xfrm>
            <a:off x="6384369" y="2082284"/>
            <a:ext cx="699135" cy="30480"/>
          </a:xfrm>
          <a:prstGeom prst="roundRect">
            <a:avLst>
              <a:gd name="adj" fmla="val 114703"/>
            </a:avLst>
          </a:prstGeom>
          <a:solidFill>
            <a:srgbClr val="6D7071"/>
          </a:solidFill>
          <a:ln/>
        </p:spPr>
      </p:sp>
      <p:sp>
        <p:nvSpPr>
          <p:cNvPr id="5" name="Shape 3"/>
          <p:cNvSpPr/>
          <p:nvPr/>
        </p:nvSpPr>
        <p:spPr>
          <a:xfrm>
            <a:off x="7053024" y="1835348"/>
            <a:ext cx="524351" cy="524351"/>
          </a:xfrm>
          <a:prstGeom prst="roundRect">
            <a:avLst>
              <a:gd name="adj" fmla="val 6668"/>
            </a:avLst>
          </a:prstGeom>
          <a:solidFill>
            <a:srgbClr val="545758"/>
          </a:solidFill>
          <a:ln/>
        </p:spPr>
      </p:sp>
      <p:sp>
        <p:nvSpPr>
          <p:cNvPr id="6" name="Text 4"/>
          <p:cNvSpPr/>
          <p:nvPr/>
        </p:nvSpPr>
        <p:spPr>
          <a:xfrm>
            <a:off x="7140416" y="1879044"/>
            <a:ext cx="349568" cy="436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1</a:t>
            </a:r>
            <a:endParaRPr lang="en-US" sz="2750" dirty="0"/>
          </a:p>
        </p:txBody>
      </p:sp>
      <p:sp>
        <p:nvSpPr>
          <p:cNvPr id="7" name="Text 5"/>
          <p:cNvSpPr/>
          <p:nvPr/>
        </p:nvSpPr>
        <p:spPr>
          <a:xfrm>
            <a:off x="3236595" y="1915358"/>
            <a:ext cx="2913340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25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К 18 января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26106" y="2419231"/>
            <a:ext cx="4923830" cy="1118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18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Доработка на основе обратной связи от предзащиты, добавление формы обратной связи и счётчика посещений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546896" y="3480673"/>
            <a:ext cx="699135" cy="30480"/>
          </a:xfrm>
          <a:prstGeom prst="roundRect">
            <a:avLst>
              <a:gd name="adj" fmla="val 114703"/>
            </a:avLst>
          </a:prstGeom>
          <a:solidFill>
            <a:srgbClr val="6D7071"/>
          </a:solidFill>
          <a:ln/>
        </p:spPr>
      </p:sp>
      <p:sp>
        <p:nvSpPr>
          <p:cNvPr id="10" name="Shape 8"/>
          <p:cNvSpPr/>
          <p:nvPr/>
        </p:nvSpPr>
        <p:spPr>
          <a:xfrm>
            <a:off x="7053024" y="3233738"/>
            <a:ext cx="524351" cy="524351"/>
          </a:xfrm>
          <a:prstGeom prst="roundRect">
            <a:avLst>
              <a:gd name="adj" fmla="val 6668"/>
            </a:avLst>
          </a:prstGeom>
          <a:solidFill>
            <a:srgbClr val="545758"/>
          </a:solidFill>
          <a:ln/>
        </p:spPr>
      </p:sp>
      <p:sp>
        <p:nvSpPr>
          <p:cNvPr id="11" name="Text 9"/>
          <p:cNvSpPr/>
          <p:nvPr/>
        </p:nvSpPr>
        <p:spPr>
          <a:xfrm>
            <a:off x="7140416" y="3277433"/>
            <a:ext cx="349568" cy="436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2</a:t>
            </a:r>
            <a:endParaRPr lang="en-US" sz="2750" dirty="0"/>
          </a:p>
        </p:txBody>
      </p:sp>
      <p:sp>
        <p:nvSpPr>
          <p:cNvPr id="12" name="Text 10"/>
          <p:cNvSpPr/>
          <p:nvPr/>
        </p:nvSpPr>
        <p:spPr>
          <a:xfrm>
            <a:off x="8480465" y="3313748"/>
            <a:ext cx="2913340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К 19 января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480465" y="3817620"/>
            <a:ext cx="4923830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Размещение в школе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84369" y="4685943"/>
            <a:ext cx="699135" cy="30480"/>
          </a:xfrm>
          <a:prstGeom prst="roundRect">
            <a:avLst>
              <a:gd name="adj" fmla="val 114703"/>
            </a:avLst>
          </a:prstGeom>
          <a:solidFill>
            <a:srgbClr val="6D7071"/>
          </a:solidFill>
          <a:ln/>
        </p:spPr>
      </p:sp>
      <p:sp>
        <p:nvSpPr>
          <p:cNvPr id="15" name="Shape 13"/>
          <p:cNvSpPr/>
          <p:nvPr/>
        </p:nvSpPr>
        <p:spPr>
          <a:xfrm>
            <a:off x="7053024" y="4439007"/>
            <a:ext cx="524351" cy="524351"/>
          </a:xfrm>
          <a:prstGeom prst="roundRect">
            <a:avLst>
              <a:gd name="adj" fmla="val 6668"/>
            </a:avLst>
          </a:prstGeom>
          <a:solidFill>
            <a:srgbClr val="545758"/>
          </a:solidFill>
          <a:ln/>
        </p:spPr>
      </p:sp>
      <p:sp>
        <p:nvSpPr>
          <p:cNvPr id="16" name="Text 14"/>
          <p:cNvSpPr/>
          <p:nvPr/>
        </p:nvSpPr>
        <p:spPr>
          <a:xfrm>
            <a:off x="7140416" y="4482703"/>
            <a:ext cx="349568" cy="436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3</a:t>
            </a:r>
            <a:endParaRPr lang="en-US" sz="2750" dirty="0"/>
          </a:p>
        </p:txBody>
      </p:sp>
      <p:sp>
        <p:nvSpPr>
          <p:cNvPr id="17" name="Text 15"/>
          <p:cNvSpPr/>
          <p:nvPr/>
        </p:nvSpPr>
        <p:spPr>
          <a:xfrm>
            <a:off x="3236595" y="4519017"/>
            <a:ext cx="2913340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25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До 23 января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26106" y="5022890"/>
            <a:ext cx="4923830" cy="74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18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Тестирование с целевой аудиторией (получение обратной связи)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546896" y="5891332"/>
            <a:ext cx="699135" cy="30480"/>
          </a:xfrm>
          <a:prstGeom prst="roundRect">
            <a:avLst>
              <a:gd name="adj" fmla="val 114703"/>
            </a:avLst>
          </a:prstGeom>
          <a:solidFill>
            <a:srgbClr val="6D7071"/>
          </a:solidFill>
          <a:ln/>
        </p:spPr>
      </p:sp>
      <p:sp>
        <p:nvSpPr>
          <p:cNvPr id="20" name="Shape 18"/>
          <p:cNvSpPr/>
          <p:nvPr/>
        </p:nvSpPr>
        <p:spPr>
          <a:xfrm>
            <a:off x="7053024" y="5644396"/>
            <a:ext cx="524351" cy="524351"/>
          </a:xfrm>
          <a:prstGeom prst="roundRect">
            <a:avLst>
              <a:gd name="adj" fmla="val 6668"/>
            </a:avLst>
          </a:prstGeom>
          <a:solidFill>
            <a:srgbClr val="545758"/>
          </a:solidFill>
          <a:ln/>
        </p:spPr>
      </p:sp>
      <p:sp>
        <p:nvSpPr>
          <p:cNvPr id="21" name="Text 19"/>
          <p:cNvSpPr/>
          <p:nvPr/>
        </p:nvSpPr>
        <p:spPr>
          <a:xfrm>
            <a:off x="7140416" y="5688092"/>
            <a:ext cx="349568" cy="436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4</a:t>
            </a:r>
            <a:endParaRPr lang="en-US" sz="2750" dirty="0"/>
          </a:p>
        </p:txBody>
      </p:sp>
      <p:sp>
        <p:nvSpPr>
          <p:cNvPr id="22" name="Text 20"/>
          <p:cNvSpPr/>
          <p:nvPr/>
        </p:nvSpPr>
        <p:spPr>
          <a:xfrm>
            <a:off x="8480465" y="5724406"/>
            <a:ext cx="2913340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К 25 января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8480465" y="6228278"/>
            <a:ext cx="4923830" cy="74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Доработки и оптимизация на основе отзывов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7230" y="596622"/>
            <a:ext cx="6968966" cy="678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Работа с обратной связью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1972628" y="2033945"/>
            <a:ext cx="8025408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Какую обратную связь вы получили от проектной команды?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972628" y="2698313"/>
            <a:ext cx="11010543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Обратная связь по теме и исследования была положительна, а критерии пришлось переделывать несколько раз из-за неопределенности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647230" y="1708547"/>
            <a:ext cx="30480" cy="1927860"/>
          </a:xfrm>
          <a:prstGeom prst="rect">
            <a:avLst/>
          </a:prstGeom>
          <a:solidFill>
            <a:srgbClr val="F4DDB8"/>
          </a:solidFill>
          <a:ln/>
        </p:spPr>
      </p:sp>
      <p:sp>
        <p:nvSpPr>
          <p:cNvPr id="6" name="Text 4"/>
          <p:cNvSpPr/>
          <p:nvPr/>
        </p:nvSpPr>
        <p:spPr>
          <a:xfrm>
            <a:off x="1972628" y="4205764"/>
            <a:ext cx="7509748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Как вы работали с обратной связью и что вы изменили?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972628" y="4870133"/>
            <a:ext cx="11010543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Я обращал внимание на всю обратную связь, а после - пробовал разные критерии, и в конце концов они стали подходящими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647230" y="3880366"/>
            <a:ext cx="30480" cy="1927860"/>
          </a:xfrm>
          <a:prstGeom prst="rect">
            <a:avLst/>
          </a:prstGeom>
          <a:solidFill>
            <a:srgbClr val="F4DDB8"/>
          </a:solidFill>
          <a:ln/>
        </p:spPr>
      </p:sp>
      <p:sp>
        <p:nvSpPr>
          <p:cNvPr id="9" name="Text 7"/>
          <p:cNvSpPr/>
          <p:nvPr/>
        </p:nvSpPr>
        <p:spPr>
          <a:xfrm>
            <a:off x="1972628" y="6377583"/>
            <a:ext cx="9737288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С какими трудностями вы столкнулись в процессе работы над проектом?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972628" y="7041952"/>
            <a:ext cx="11010543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Находить и обрабатывать данные для сайта, а также несоблюдение сроков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647230" y="6052185"/>
            <a:ext cx="30480" cy="1580793"/>
          </a:xfrm>
          <a:prstGeom prst="rect">
            <a:avLst/>
          </a:prstGeom>
          <a:solidFill>
            <a:srgbClr val="F4DDB8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90612" y="455176"/>
            <a:ext cx="8077795" cy="517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Что нового вы узнали/чему научились?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2990612" y="1303496"/>
            <a:ext cx="4241721" cy="1863804"/>
          </a:xfrm>
          <a:prstGeom prst="roundRect">
            <a:avLst>
              <a:gd name="adj" fmla="val 1332"/>
            </a:avLst>
          </a:prstGeom>
          <a:solidFill>
            <a:srgbClr val="545758"/>
          </a:solidFill>
          <a:ln/>
        </p:spPr>
      </p:sp>
      <p:sp>
        <p:nvSpPr>
          <p:cNvPr id="4" name="Text 2"/>
          <p:cNvSpPr/>
          <p:nvPr/>
        </p:nvSpPr>
        <p:spPr>
          <a:xfrm>
            <a:off x="3156109" y="1468993"/>
            <a:ext cx="2464356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Приобретенные навыки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56109" y="1826895"/>
            <a:ext cx="3910727" cy="26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Проектная деятельность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56109" y="2149554"/>
            <a:ext cx="3910727" cy="26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Тайм-менеджмент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56109" y="2472214"/>
            <a:ext cx="3910727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Умение писать грамотный промт для нейросети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97829" y="1303496"/>
            <a:ext cx="4241840" cy="1863804"/>
          </a:xfrm>
          <a:prstGeom prst="roundRect">
            <a:avLst>
              <a:gd name="adj" fmla="val 1332"/>
            </a:avLst>
          </a:prstGeom>
          <a:solidFill>
            <a:srgbClr val="545758"/>
          </a:solidFill>
          <a:ln/>
        </p:spPr>
      </p:sp>
      <p:sp>
        <p:nvSpPr>
          <p:cNvPr id="9" name="Text 7"/>
          <p:cNvSpPr/>
          <p:nvPr/>
        </p:nvSpPr>
        <p:spPr>
          <a:xfrm>
            <a:off x="7563326" y="1468993"/>
            <a:ext cx="2069068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5E4E2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Ключевой инсайт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63326" y="1826895"/>
            <a:ext cx="3910846" cy="79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Людям сложно переварить большие объемы информации, и поэтому они готовы пользоваться ресурсами упрощающие жизнь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90612" y="3519011"/>
            <a:ext cx="248292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Что открыл для себя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990612" y="3994785"/>
            <a:ext cx="4122539" cy="26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Проектную деятельность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90612" y="4317444"/>
            <a:ext cx="4122539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Первый запуск сайта очень удивил (в лучшую сторону)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90612" y="5012531"/>
            <a:ext cx="248292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Что радует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2990612" y="5488305"/>
            <a:ext cx="4122539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Итоговый образ моего продукта будет именно сайт, а не таблица или презентация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90612" y="6183392"/>
            <a:ext cx="248292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A91D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Что огорчило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990612" y="6659166"/>
            <a:ext cx="4122539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На опрос для исследования ответило не так много человек</a:t>
            </a:r>
            <a:endParaRPr lang="en-US" sz="1300" dirty="0"/>
          </a:p>
        </p:txBody>
      </p:sp>
      <p:pic>
        <p:nvPicPr>
          <p:cNvPr id="23" name="Рисунок 22" descr="QR-код">
            <a:hlinkClick r:id="rId3"/>
            <a:extLst>
              <a:ext uri="{FF2B5EF4-FFF2-40B4-BE49-F238E27FC236}">
                <a16:creationId xmlns:a16="http://schemas.microsoft.com/office/drawing/2014/main" id="{A3A1626A-CEAB-CA81-2D0F-212F2F6C1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5577" y="4534664"/>
            <a:ext cx="2654092" cy="265409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068325" y="6923960"/>
            <a:ext cx="2488595" cy="26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00" dirty="0">
                <a:solidFill>
                  <a:srgbClr val="E5E4E2"/>
                </a:solidFill>
                <a:latin typeface="Heebo" pitchFamily="34" charset="0"/>
                <a:ea typeface="Heebo" pitchFamily="34" charset="-122"/>
                <a:cs typeface="Heebo" pitchFamily="34" charset="-120"/>
                <a:hlinkClick r:id="rId3"/>
              </a:rPr>
              <a:t>https://sto200.github.io/vuz_resurs/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657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625</Words>
  <Application>Microsoft Office PowerPoint</Application>
  <PresentationFormat>Произвольный</PresentationFormat>
  <Paragraphs>108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Heebo</vt:lpstr>
      <vt:lpstr>Varela Round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Ф О</dc:creator>
  <cp:lastModifiedBy>Ф О</cp:lastModifiedBy>
  <cp:revision>3</cp:revision>
  <dcterms:created xsi:type="dcterms:W3CDTF">2026-01-12T20:01:05Z</dcterms:created>
  <dcterms:modified xsi:type="dcterms:W3CDTF">2026-01-13T06:26:57Z</dcterms:modified>
</cp:coreProperties>
</file>